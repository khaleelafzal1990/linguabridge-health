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Lingua Bridge </a:t>
            </a:r>
            <a:r>
              <a:rPr lang="en-US" b="1" dirty="0"/>
              <a:t>Health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/>
              <a:t>The AI clinical intake engine built for how patients actually speak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45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645740"/>
          </a:xfrm>
        </p:spPr>
        <p:txBody>
          <a:bodyPr/>
          <a:lstStyle/>
          <a:p>
            <a:r>
              <a:rPr lang="en-US" dirty="0" smtClean="0"/>
              <a:t>The Problem (Sharp &amp; Real)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343770"/>
            <a:ext cx="10363826" cy="5287618"/>
          </a:xfrm>
        </p:spPr>
        <p:txBody>
          <a:bodyPr/>
          <a:lstStyle/>
          <a:p>
            <a:r>
              <a:rPr lang="en-US" sz="1800" dirty="0" smtClean="0"/>
              <a:t>In Pakistan </a:t>
            </a:r>
            <a:r>
              <a:rPr lang="en-US" sz="1800" dirty="0"/>
              <a:t>and much of South Asia:</a:t>
            </a:r>
          </a:p>
          <a:p>
            <a:pPr lvl="0"/>
            <a:r>
              <a:rPr lang="en-US" sz="1800" dirty="0"/>
              <a:t>Patients think and speak in Urdu–English mix</a:t>
            </a:r>
          </a:p>
          <a:p>
            <a:pPr lvl="0"/>
            <a:r>
              <a:rPr lang="en-US" sz="1800" dirty="0"/>
              <a:t>Doctors document in formal English</a:t>
            </a:r>
          </a:p>
          <a:p>
            <a:pPr lvl="0"/>
            <a:r>
              <a:rPr lang="en-US" sz="1800" dirty="0"/>
              <a:t>Critical meaning is lost in translation</a:t>
            </a:r>
          </a:p>
          <a:p>
            <a:pPr lvl="2"/>
            <a:r>
              <a:rPr lang="en-US" b="1" dirty="0"/>
              <a:t>This leads to:</a:t>
            </a:r>
          </a:p>
          <a:p>
            <a:pPr lvl="0"/>
            <a:r>
              <a:rPr lang="en-US" dirty="0"/>
              <a:t>Incomplete or inaccurate clinical histories</a:t>
            </a:r>
          </a:p>
          <a:p>
            <a:pPr lvl="0"/>
            <a:r>
              <a:rPr lang="en-US" dirty="0"/>
              <a:t>Short OPD consultations (2–5 minutes)</a:t>
            </a:r>
          </a:p>
          <a:p>
            <a:pPr lvl="0"/>
            <a:r>
              <a:rPr lang="en-US" dirty="0"/>
              <a:t>Diagnostic risk due to misunderstood idioms</a:t>
            </a:r>
          </a:p>
          <a:p>
            <a:pPr lvl="0"/>
            <a:r>
              <a:rPr lang="en-US" dirty="0"/>
              <a:t>Patient shame, silence, and </a:t>
            </a:r>
            <a:r>
              <a:rPr lang="en-US" dirty="0" smtClean="0"/>
              <a:t>non-compliance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b="1" dirty="0"/>
              <a:t>Existing clinical AI assumes fluent </a:t>
            </a:r>
            <a:r>
              <a:rPr lang="en-US" b="1" dirty="0" smtClean="0"/>
              <a:t>English. Reality </a:t>
            </a:r>
            <a:r>
              <a:rPr lang="en-US" b="1" dirty="0"/>
              <a:t>does not.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9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91764"/>
            <a:ext cx="10364451" cy="68381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The </a:t>
            </a:r>
            <a:r>
              <a:rPr lang="en-US" b="1" dirty="0"/>
              <a:t>Insight (Why We Win)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63040"/>
            <a:ext cx="10363826" cy="4842344"/>
          </a:xfrm>
        </p:spPr>
        <p:txBody>
          <a:bodyPr>
            <a:normAutofit/>
          </a:bodyPr>
          <a:lstStyle/>
          <a:p>
            <a:r>
              <a:rPr lang="en-US" dirty="0"/>
              <a:t>Language is not just translation — it’s </a:t>
            </a:r>
            <a:r>
              <a:rPr lang="en-US" b="1" dirty="0"/>
              <a:t>clinical reasoning shaped by culture</a:t>
            </a:r>
            <a:r>
              <a:rPr lang="en-US" dirty="0"/>
              <a:t>.</a:t>
            </a:r>
          </a:p>
          <a:p>
            <a:r>
              <a:rPr lang="en-US" dirty="0"/>
              <a:t>Patients don’t say:</a:t>
            </a:r>
          </a:p>
          <a:p>
            <a:pPr lvl="0"/>
            <a:r>
              <a:rPr lang="en-US" dirty="0" smtClean="0"/>
              <a:t>“Exertion </a:t>
            </a:r>
            <a:r>
              <a:rPr lang="en-US" dirty="0"/>
              <a:t>dyspnea”</a:t>
            </a:r>
            <a:br>
              <a:rPr lang="en-US" dirty="0"/>
            </a:br>
            <a:r>
              <a:rPr lang="en-US" dirty="0"/>
              <a:t>They say:</a:t>
            </a:r>
          </a:p>
          <a:p>
            <a:pPr lvl="0"/>
            <a:r>
              <a:rPr lang="en-US" dirty="0"/>
              <a:t>“</a:t>
            </a:r>
            <a:r>
              <a:rPr lang="en-US" dirty="0" err="1"/>
              <a:t>Saans</a:t>
            </a:r>
            <a:r>
              <a:rPr lang="en-US" dirty="0"/>
              <a:t> </a:t>
            </a:r>
            <a:r>
              <a:rPr lang="en-US" dirty="0" err="1"/>
              <a:t>phool</a:t>
            </a:r>
            <a:r>
              <a:rPr lang="en-US" dirty="0"/>
              <a:t> </a:t>
            </a:r>
            <a:r>
              <a:rPr lang="en-US" dirty="0" err="1"/>
              <a:t>jati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”</a:t>
            </a:r>
          </a:p>
          <a:p>
            <a:r>
              <a:rPr lang="en-US" dirty="0"/>
              <a:t>Doctors don’t need:</a:t>
            </a:r>
          </a:p>
          <a:p>
            <a:pPr lvl="0"/>
            <a:r>
              <a:rPr lang="en-US" dirty="0"/>
              <a:t>Raw transcripts</a:t>
            </a:r>
            <a:br>
              <a:rPr lang="en-US" dirty="0"/>
            </a:br>
            <a:r>
              <a:rPr lang="en-US" dirty="0"/>
              <a:t>They need:</a:t>
            </a:r>
          </a:p>
          <a:p>
            <a:pPr lvl="0"/>
            <a:r>
              <a:rPr lang="en-US" b="1" dirty="0"/>
              <a:t>Structured, medically precise summaries</a:t>
            </a:r>
            <a:endParaRPr lang="en-US" dirty="0"/>
          </a:p>
          <a:p>
            <a:r>
              <a:rPr lang="en-US" dirty="0"/>
              <a:t>👉 </a:t>
            </a:r>
            <a:r>
              <a:rPr lang="en-US" b="1" dirty="0" smtClean="0"/>
              <a:t>Lingua Bridge </a:t>
            </a:r>
            <a:r>
              <a:rPr lang="en-US" b="1" dirty="0"/>
              <a:t>is the missing cognitive bridge.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75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98496"/>
            <a:ext cx="10364451" cy="92235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The </a:t>
            </a:r>
            <a:r>
              <a:rPr lang="en-US" b="1" dirty="0"/>
              <a:t>Solution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693628"/>
            <a:ext cx="10363826" cy="4667415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Lingua Bridge </a:t>
            </a:r>
            <a:r>
              <a:rPr lang="en-US" sz="1800" b="1" dirty="0"/>
              <a:t>Health</a:t>
            </a:r>
            <a:r>
              <a:rPr lang="en-US" sz="1800" dirty="0"/>
              <a:t> is an </a:t>
            </a:r>
            <a:r>
              <a:rPr lang="en-US" sz="1800" b="1" dirty="0"/>
              <a:t>AI-powered clinical intake &amp; summary engine</a:t>
            </a:r>
            <a:r>
              <a:rPr lang="en-US" sz="1800" dirty="0"/>
              <a:t> that:</a:t>
            </a:r>
          </a:p>
          <a:p>
            <a:pPr lvl="1"/>
            <a:r>
              <a:rPr lang="en-US" dirty="0"/>
              <a:t>Accepts spoken or typed Urdu–English</a:t>
            </a:r>
          </a:p>
          <a:p>
            <a:pPr lvl="1"/>
            <a:r>
              <a:rPr lang="en-US" dirty="0"/>
              <a:t>Understands local idioms &amp; symptom language</a:t>
            </a:r>
          </a:p>
          <a:p>
            <a:pPr lvl="1"/>
            <a:r>
              <a:rPr lang="en-US" dirty="0"/>
              <a:t>Converts narratives into:</a:t>
            </a:r>
          </a:p>
          <a:p>
            <a:pPr lvl="2"/>
            <a:r>
              <a:rPr lang="en-US" sz="1800" dirty="0"/>
              <a:t>Structured clinical history</a:t>
            </a:r>
          </a:p>
          <a:p>
            <a:pPr lvl="2"/>
            <a:r>
              <a:rPr lang="en-US" sz="1800" dirty="0"/>
              <a:t>SOAP notes</a:t>
            </a:r>
          </a:p>
          <a:p>
            <a:pPr lvl="2"/>
            <a:r>
              <a:rPr lang="en-US" sz="1800" dirty="0"/>
              <a:t>Referral summaries</a:t>
            </a:r>
          </a:p>
          <a:p>
            <a:pPr lvl="1"/>
            <a:r>
              <a:rPr lang="en-US" dirty="0"/>
              <a:t>Explains transformations in Urdu-aware English</a:t>
            </a:r>
          </a:p>
          <a:p>
            <a:r>
              <a:rPr lang="en-US" sz="1800" b="1" dirty="0"/>
              <a:t>Result: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Doctors get clean documentation.</a:t>
            </a:r>
            <a:br>
              <a:rPr lang="en-US" sz="1800" dirty="0"/>
            </a:br>
            <a:r>
              <a:rPr lang="en-US" sz="1800" dirty="0"/>
              <a:t>Patients feel understood — not judged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899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5705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Live </a:t>
            </a:r>
            <a:r>
              <a:rPr lang="en-US" b="1" dirty="0"/>
              <a:t>Example (Very Demo-Friendly)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55090"/>
            <a:ext cx="10363826" cy="5041126"/>
          </a:xfrm>
        </p:spPr>
        <p:txBody>
          <a:bodyPr/>
          <a:lstStyle/>
          <a:p>
            <a:r>
              <a:rPr lang="en-US" b="1" dirty="0"/>
              <a:t>Patient says:</a:t>
            </a:r>
            <a:endParaRPr lang="en-US" dirty="0"/>
          </a:p>
          <a:p>
            <a:r>
              <a:rPr lang="en-US" dirty="0"/>
              <a:t>“Doctor </a:t>
            </a:r>
            <a:r>
              <a:rPr lang="en-US" dirty="0" err="1"/>
              <a:t>sahab</a:t>
            </a:r>
            <a:r>
              <a:rPr lang="en-US" dirty="0"/>
              <a:t>, chest heavy </a:t>
            </a:r>
            <a:r>
              <a:rPr lang="en-US" dirty="0" err="1"/>
              <a:t>lagta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jab </a:t>
            </a:r>
            <a:r>
              <a:rPr lang="en-US" dirty="0" err="1"/>
              <a:t>chalna</a:t>
            </a:r>
            <a:r>
              <a:rPr lang="en-US" dirty="0"/>
              <a:t> </a:t>
            </a:r>
            <a:r>
              <a:rPr lang="en-US" dirty="0" err="1"/>
              <a:t>tez</a:t>
            </a:r>
            <a:r>
              <a:rPr lang="en-US" dirty="0"/>
              <a:t> ho </a:t>
            </a:r>
            <a:r>
              <a:rPr lang="en-US" dirty="0" err="1"/>
              <a:t>jaye</a:t>
            </a:r>
            <a:r>
              <a:rPr lang="en-US" dirty="0"/>
              <a:t>.”</a:t>
            </a:r>
          </a:p>
          <a:p>
            <a:r>
              <a:rPr lang="en-US" b="1" dirty="0" smtClean="0"/>
              <a:t>Lingua Bridge </a:t>
            </a:r>
            <a:r>
              <a:rPr lang="en-US" b="1" dirty="0"/>
              <a:t>outputs:</a:t>
            </a:r>
            <a:endParaRPr lang="en-US" dirty="0"/>
          </a:p>
          <a:p>
            <a:pPr lvl="0"/>
            <a:r>
              <a:rPr lang="en-US" i="1" dirty="0"/>
              <a:t>Chief Complaint:</a:t>
            </a:r>
            <a:r>
              <a:rPr lang="en-US" dirty="0"/>
              <a:t> Chest heaviness</a:t>
            </a:r>
          </a:p>
          <a:p>
            <a:pPr lvl="0"/>
            <a:r>
              <a:rPr lang="en-US" i="1" dirty="0"/>
              <a:t>Duration:</a:t>
            </a:r>
            <a:r>
              <a:rPr lang="en-US" dirty="0"/>
              <a:t> On exertion</a:t>
            </a:r>
          </a:p>
          <a:p>
            <a:pPr lvl="0"/>
            <a:r>
              <a:rPr lang="en-US" i="1" dirty="0"/>
              <a:t>Associated symptom:</a:t>
            </a:r>
            <a:r>
              <a:rPr lang="en-US" dirty="0"/>
              <a:t> Shortness of breath</a:t>
            </a:r>
          </a:p>
          <a:p>
            <a:pPr lvl="0"/>
            <a:r>
              <a:rPr lang="en-US" i="1" dirty="0"/>
              <a:t>Clinical phrasing:</a:t>
            </a:r>
            <a:r>
              <a:rPr lang="en-US" dirty="0"/>
              <a:t> </a:t>
            </a:r>
            <a:r>
              <a:rPr lang="en-US" dirty="0" err="1"/>
              <a:t>Exertional</a:t>
            </a:r>
            <a:r>
              <a:rPr lang="en-US" dirty="0"/>
              <a:t> chest discomfort</a:t>
            </a:r>
          </a:p>
          <a:p>
            <a:r>
              <a:rPr lang="en-US" b="1" dirty="0" smtClean="0"/>
              <a:t>Additional </a:t>
            </a:r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“ ‘Heavy </a:t>
            </a:r>
            <a:r>
              <a:rPr lang="en-US" dirty="0" err="1"/>
              <a:t>lagta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’ was documented as chest heaviness, a common way patients describe cardiac discomfort.”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26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0935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Why </a:t>
            </a:r>
            <a:r>
              <a:rPr lang="en-US" b="1" dirty="0"/>
              <a:t>Now?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653871"/>
            <a:ext cx="10363826" cy="4898003"/>
          </a:xfrm>
        </p:spPr>
        <p:txBody>
          <a:bodyPr/>
          <a:lstStyle/>
          <a:p>
            <a:pPr lvl="0"/>
            <a:r>
              <a:rPr lang="en-US" sz="2400" dirty="0"/>
              <a:t>Explosion of AI adoption in healthcare</a:t>
            </a:r>
          </a:p>
          <a:p>
            <a:pPr lvl="0"/>
            <a:r>
              <a:rPr lang="en-US" sz="2400" dirty="0"/>
              <a:t>Massive under-documented patient populations</a:t>
            </a:r>
          </a:p>
          <a:p>
            <a:pPr lvl="0"/>
            <a:r>
              <a:rPr lang="en-US" sz="2400" dirty="0"/>
              <a:t>Smartphone penetration ≠ English proficiency</a:t>
            </a:r>
          </a:p>
          <a:p>
            <a:pPr lvl="0"/>
            <a:r>
              <a:rPr lang="en-US" sz="2400" dirty="0"/>
              <a:t>Governments &amp; NGOs funding primary care digitization</a:t>
            </a:r>
          </a:p>
          <a:p>
            <a:r>
              <a:rPr lang="en-US" sz="2400" dirty="0"/>
              <a:t>This problem has existed forever.</a:t>
            </a:r>
            <a:br>
              <a:rPr lang="en-US" sz="2400" dirty="0"/>
            </a:br>
            <a:endParaRPr lang="en-US" sz="2400" dirty="0" smtClean="0"/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b="1" dirty="0" smtClean="0"/>
              <a:t>	Technology </a:t>
            </a:r>
            <a:r>
              <a:rPr lang="en-US" sz="2400" b="1" dirty="0"/>
              <a:t>has finally caught up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91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8764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Market </a:t>
            </a:r>
            <a:r>
              <a:rPr lang="en-US" b="1" dirty="0"/>
              <a:t>Opportunity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773141"/>
            <a:ext cx="10363826" cy="4428875"/>
          </a:xfrm>
        </p:spPr>
        <p:txBody>
          <a:bodyPr/>
          <a:lstStyle/>
          <a:p>
            <a:r>
              <a:rPr lang="en-US" b="1" dirty="0"/>
              <a:t>Initial Market</a:t>
            </a:r>
            <a:endParaRPr lang="en-US" dirty="0"/>
          </a:p>
          <a:p>
            <a:pPr lvl="1"/>
            <a:r>
              <a:rPr lang="en-US" sz="2000" dirty="0" smtClean="0"/>
              <a:t>Pakistan’s </a:t>
            </a:r>
            <a:r>
              <a:rPr lang="en-US" sz="2000" dirty="0"/>
              <a:t>OPDs, clinics, hospitals</a:t>
            </a:r>
          </a:p>
          <a:p>
            <a:pPr lvl="1"/>
            <a:r>
              <a:rPr lang="en-US" sz="2000" dirty="0" smtClean="0"/>
              <a:t>population of more than 250 million</a:t>
            </a:r>
            <a:endParaRPr lang="en-US" sz="2000" dirty="0"/>
          </a:p>
          <a:p>
            <a:pPr lvl="1"/>
            <a:r>
              <a:rPr lang="en-US" sz="2000" dirty="0"/>
              <a:t>Millions of daily outpatient visits</a:t>
            </a:r>
          </a:p>
          <a:p>
            <a:r>
              <a:rPr lang="en-US" b="1" dirty="0" smtClean="0"/>
              <a:t>Market Expansion</a:t>
            </a:r>
            <a:endParaRPr lang="en-US" dirty="0"/>
          </a:p>
          <a:p>
            <a:pPr lvl="1"/>
            <a:r>
              <a:rPr lang="en-US" sz="2000" dirty="0"/>
              <a:t>India, Bangladesh, Middle East expat clinics</a:t>
            </a:r>
          </a:p>
          <a:p>
            <a:pPr lvl="1"/>
            <a:r>
              <a:rPr lang="en-US" sz="2000" dirty="0"/>
              <a:t>Any code-mixed healthcare system</a:t>
            </a:r>
          </a:p>
          <a:p>
            <a:pPr lvl="1"/>
            <a:r>
              <a:rPr lang="en-US" sz="2000" dirty="0" smtClean="0"/>
              <a:t>This </a:t>
            </a:r>
            <a:r>
              <a:rPr lang="en-US" sz="2000" dirty="0"/>
              <a:t>is a regional problem with global scale.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30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461176"/>
            <a:ext cx="10364451" cy="9700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Competitive Advantage (Defensible</a:t>
            </a:r>
            <a:r>
              <a:rPr lang="en-US" b="1" dirty="0" smtClean="0"/>
              <a:t>)</a:t>
            </a:r>
            <a:br>
              <a:rPr lang="en-US" b="1" dirty="0" smtClean="0"/>
            </a:br>
            <a:r>
              <a:rPr lang="en-US" sz="2700" dirty="0" smtClean="0"/>
              <a:t>Our Goal: </a:t>
            </a:r>
            <a:r>
              <a:rPr lang="en-US" sz="2200" dirty="0" smtClean="0"/>
              <a:t>Local </a:t>
            </a:r>
            <a:r>
              <a:rPr lang="en-US" sz="2200" dirty="0"/>
              <a:t>language + medical context + </a:t>
            </a:r>
            <a:r>
              <a:rPr lang="en-US" sz="2200" dirty="0" err="1" smtClean="0"/>
              <a:t>explaination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53843741"/>
              </p:ext>
            </p:extLst>
          </p:nvPr>
        </p:nvGraphicFramePr>
        <p:xfrm>
          <a:off x="914400" y="2035533"/>
          <a:ext cx="10363200" cy="3071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  <a:gridCol w="5181600"/>
              </a:tblGrid>
              <a:tr h="614239">
                <a:tc>
                  <a:txBody>
                    <a:bodyPr/>
                    <a:lstStyle/>
                    <a:p>
                      <a:r>
                        <a:rPr lang="en-US" dirty="0" smtClean="0"/>
                        <a:t>What others 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What Lingua Bridge does</a:t>
                      </a:r>
                      <a:endParaRPr lang="en-US" dirty="0"/>
                    </a:p>
                  </a:txBody>
                  <a:tcPr/>
                </a:tc>
              </a:tr>
              <a:tr h="614239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Generic speech-to-text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Idiom-aware clinical reasoning</a:t>
                      </a:r>
                      <a:endParaRPr lang="en-US" dirty="0"/>
                    </a:p>
                  </a:txBody>
                  <a:tcPr/>
                </a:tc>
              </a:tr>
              <a:tr h="6142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ptos"/>
                          <a:ea typeface="Aptos"/>
                          <a:cs typeface="Times New Roman" panose="02020603050405020304" pitchFamily="18" charset="0"/>
                        </a:rPr>
                        <a:t>English-first NLP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Urdu–English native intelligence</a:t>
                      </a:r>
                      <a:endParaRPr lang="en-US" dirty="0"/>
                    </a:p>
                  </a:txBody>
                  <a:tcPr/>
                </a:tc>
              </a:tr>
              <a:tr h="614239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Black-box summaries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Explainable transformations</a:t>
                      </a:r>
                      <a:endParaRPr lang="en-US" dirty="0"/>
                    </a:p>
                  </a:txBody>
                  <a:tcPr/>
                </a:tc>
              </a:tr>
              <a:tr h="614239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High-bandwidth systems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Low-bandwidth Android-first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820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669594"/>
          </a:xfrm>
        </p:spPr>
        <p:txBody>
          <a:bodyPr/>
          <a:lstStyle/>
          <a:p>
            <a:r>
              <a:rPr lang="en-US" dirty="0" smtClean="0"/>
              <a:t>Product 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55090"/>
            <a:ext cx="10363826" cy="510473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Phase 1 (MVP)</a:t>
            </a:r>
            <a:endParaRPr lang="en-US" dirty="0"/>
          </a:p>
          <a:p>
            <a:pPr lvl="0"/>
            <a:r>
              <a:rPr lang="en-US" dirty="0"/>
              <a:t>Patient intake (voice + text)</a:t>
            </a:r>
          </a:p>
          <a:p>
            <a:pPr lvl="0"/>
            <a:r>
              <a:rPr lang="en-US" dirty="0"/>
              <a:t>Doctor summary generation</a:t>
            </a:r>
          </a:p>
          <a:p>
            <a:pPr lvl="0"/>
            <a:r>
              <a:rPr lang="en-US" dirty="0"/>
              <a:t>Android-first clinic app</a:t>
            </a:r>
          </a:p>
          <a:p>
            <a:r>
              <a:rPr lang="en-US" b="1" dirty="0"/>
              <a:t>Phase 2</a:t>
            </a:r>
            <a:endParaRPr lang="en-US" dirty="0"/>
          </a:p>
          <a:p>
            <a:pPr lvl="0"/>
            <a:r>
              <a:rPr lang="en-US" dirty="0"/>
              <a:t>EMR integration</a:t>
            </a:r>
          </a:p>
          <a:p>
            <a:pPr lvl="0"/>
            <a:r>
              <a:rPr lang="en-US" dirty="0"/>
              <a:t>Prescription &amp; referral drafting</a:t>
            </a:r>
          </a:p>
          <a:p>
            <a:pPr lvl="0"/>
            <a:r>
              <a:rPr lang="en-US" dirty="0"/>
              <a:t>Patient education summaries</a:t>
            </a:r>
          </a:p>
          <a:p>
            <a:r>
              <a:rPr lang="en-US" b="1" dirty="0"/>
              <a:t>Phase 3</a:t>
            </a:r>
            <a:endParaRPr lang="en-US" dirty="0"/>
          </a:p>
          <a:p>
            <a:pPr lvl="0"/>
            <a:r>
              <a:rPr lang="en-US" dirty="0"/>
              <a:t>Predictive triage</a:t>
            </a:r>
          </a:p>
          <a:p>
            <a:pPr lvl="0"/>
            <a:r>
              <a:rPr lang="en-US" dirty="0"/>
              <a:t>Public health data insights</a:t>
            </a:r>
          </a:p>
          <a:p>
            <a:pPr lvl="0"/>
            <a:r>
              <a:rPr lang="en-US" dirty="0"/>
              <a:t>Multi-language expansion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390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556591"/>
            <a:ext cx="10364451" cy="588397"/>
          </a:xfrm>
        </p:spPr>
        <p:txBody>
          <a:bodyPr>
            <a:normAutofit/>
          </a:bodyPr>
          <a:lstStyle/>
          <a:p>
            <a:r>
              <a:rPr lang="en-US" dirty="0" smtClean="0"/>
              <a:t>Business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256306"/>
            <a:ext cx="10363826" cy="5343277"/>
          </a:xfrm>
        </p:spPr>
        <p:txBody>
          <a:bodyPr>
            <a:normAutofit/>
          </a:bodyPr>
          <a:lstStyle/>
          <a:p>
            <a:r>
              <a:rPr lang="en-US" b="1" dirty="0"/>
              <a:t>B2B (Primary)</a:t>
            </a:r>
            <a:endParaRPr lang="en-US" dirty="0"/>
          </a:p>
          <a:p>
            <a:pPr lvl="0"/>
            <a:r>
              <a:rPr lang="en-US" dirty="0"/>
              <a:t>Clinics &amp; hospitals (subscription per doctor)</a:t>
            </a:r>
          </a:p>
          <a:p>
            <a:pPr lvl="0"/>
            <a:r>
              <a:rPr lang="en-US" dirty="0"/>
              <a:t>NGO &amp; government deployments</a:t>
            </a:r>
          </a:p>
          <a:p>
            <a:r>
              <a:rPr lang="en-US" b="1" dirty="0"/>
              <a:t>B2B2C</a:t>
            </a:r>
            <a:endParaRPr lang="en-US" dirty="0"/>
          </a:p>
          <a:p>
            <a:pPr lvl="0"/>
            <a:r>
              <a:rPr lang="en-US" dirty="0"/>
              <a:t>Telemedicine platforms</a:t>
            </a:r>
          </a:p>
          <a:p>
            <a:pPr lvl="0"/>
            <a:r>
              <a:rPr lang="en-US" dirty="0"/>
              <a:t>Health startups</a:t>
            </a:r>
          </a:p>
          <a:p>
            <a:r>
              <a:rPr lang="en-US" b="1" dirty="0"/>
              <a:t>Optional B2C</a:t>
            </a:r>
            <a:endParaRPr lang="en-US" dirty="0"/>
          </a:p>
          <a:p>
            <a:pPr lvl="0"/>
            <a:r>
              <a:rPr lang="en-US" dirty="0"/>
              <a:t>Patient self-intake &amp; follow-ups</a:t>
            </a:r>
          </a:p>
          <a:p>
            <a:r>
              <a:rPr lang="en-US" dirty="0"/>
              <a:t>Low cost per </a:t>
            </a:r>
            <a:r>
              <a:rPr lang="en-US" dirty="0" smtClean="0"/>
              <a:t>seat.</a:t>
            </a:r>
            <a:endParaRPr lang="en-US" dirty="0"/>
          </a:p>
          <a:p>
            <a:r>
              <a:rPr lang="en-US" dirty="0" smtClean="0"/>
              <a:t>High </a:t>
            </a:r>
            <a:r>
              <a:rPr lang="en-US" dirty="0"/>
              <a:t>switching cost once embedded.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17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413469"/>
            <a:ext cx="10364451" cy="89849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Implementation </a:t>
            </a:r>
            <a:r>
              <a:rPr lang="en-US" b="1" dirty="0"/>
              <a:t>Strategy (Early Wins)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78943"/>
            <a:ext cx="10363826" cy="47548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Pilot in 5–10 Karachi clinics</a:t>
            </a:r>
          </a:p>
          <a:p>
            <a:pPr lvl="0"/>
            <a:r>
              <a:rPr lang="en-US" b="1" dirty="0"/>
              <a:t>Measure:</a:t>
            </a:r>
          </a:p>
          <a:p>
            <a:pPr lvl="1"/>
            <a:r>
              <a:rPr lang="en-US" dirty="0"/>
              <a:t>Consultation time saved</a:t>
            </a:r>
          </a:p>
          <a:p>
            <a:pPr lvl="1"/>
            <a:r>
              <a:rPr lang="en-US" dirty="0"/>
              <a:t>Documentation accuracy</a:t>
            </a:r>
          </a:p>
          <a:p>
            <a:pPr lvl="1"/>
            <a:r>
              <a:rPr lang="en-US" dirty="0"/>
              <a:t>Patient satisfaction</a:t>
            </a:r>
          </a:p>
          <a:p>
            <a:pPr lvl="0"/>
            <a:r>
              <a:rPr lang="en-US" dirty="0"/>
              <a:t>Convert pilots → paid subscriptions</a:t>
            </a:r>
          </a:p>
          <a:p>
            <a:pPr lvl="0"/>
            <a:r>
              <a:rPr lang="en-US" dirty="0"/>
              <a:t>Leverage success for grants &amp; seed funding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272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50790"/>
            <a:ext cx="10364451" cy="74742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Why </a:t>
            </a:r>
            <a:r>
              <a:rPr lang="en-US" b="1" dirty="0"/>
              <a:t>We’re the Right Team (You)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099144"/>
            <a:ext cx="10363826" cy="4190338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Deep </a:t>
            </a:r>
            <a:r>
              <a:rPr lang="en-US" dirty="0"/>
              <a:t>enterprise software leadership</a:t>
            </a:r>
          </a:p>
          <a:p>
            <a:pPr lvl="0"/>
            <a:r>
              <a:rPr lang="en-US" dirty="0"/>
              <a:t>Government &amp; healthcare system exposure</a:t>
            </a:r>
          </a:p>
          <a:p>
            <a:pPr lvl="0"/>
            <a:r>
              <a:rPr lang="en-US" dirty="0"/>
              <a:t>AI + structured data background</a:t>
            </a:r>
          </a:p>
          <a:p>
            <a:pPr lvl="0"/>
            <a:r>
              <a:rPr lang="en-US" dirty="0"/>
              <a:t>First-hand understanding of:</a:t>
            </a:r>
          </a:p>
          <a:p>
            <a:pPr lvl="1"/>
            <a:r>
              <a:rPr lang="en-US" dirty="0"/>
              <a:t>Local language</a:t>
            </a:r>
          </a:p>
          <a:p>
            <a:pPr lvl="1"/>
            <a:r>
              <a:rPr lang="en-US" dirty="0"/>
              <a:t>Institutional constraints</a:t>
            </a:r>
          </a:p>
          <a:p>
            <a:pPr lvl="1"/>
            <a:r>
              <a:rPr lang="en-US" dirty="0"/>
              <a:t>Real-world workflows</a:t>
            </a:r>
          </a:p>
          <a:p>
            <a:r>
              <a:rPr lang="en-US" dirty="0"/>
              <a:t>This is not an outsider solution.</a:t>
            </a:r>
            <a:br>
              <a:rPr lang="en-US" dirty="0"/>
            </a:br>
            <a:r>
              <a:rPr lang="en-US" b="1" dirty="0"/>
              <a:t>It’s built from inside the system.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056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50790"/>
            <a:ext cx="10364451" cy="842838"/>
          </a:xfrm>
        </p:spPr>
        <p:txBody>
          <a:bodyPr/>
          <a:lstStyle/>
          <a:p>
            <a:r>
              <a:rPr lang="en-US" dirty="0" smtClean="0"/>
              <a:t>Ask/Request/Demand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7713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We are raising pre-seed / seed funding to:</a:t>
            </a:r>
          </a:p>
          <a:p>
            <a:pPr lvl="0"/>
            <a:r>
              <a:rPr lang="en-US" dirty="0"/>
              <a:t>Build MVP</a:t>
            </a:r>
          </a:p>
          <a:p>
            <a:pPr lvl="0"/>
            <a:r>
              <a:rPr lang="en-US" dirty="0"/>
              <a:t>Run clinical pilots</a:t>
            </a:r>
          </a:p>
          <a:p>
            <a:pPr lvl="0"/>
            <a:r>
              <a:rPr lang="en-US" dirty="0"/>
              <a:t>Secure regulatory alignment</a:t>
            </a:r>
          </a:p>
          <a:p>
            <a:pPr lvl="0"/>
            <a:r>
              <a:rPr lang="en-US" dirty="0"/>
              <a:t>Expand language &amp; medical models</a:t>
            </a:r>
          </a:p>
          <a:p>
            <a:r>
              <a:rPr lang="en-US" b="1" dirty="0"/>
              <a:t>Goal: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Become the default clinical intake layer for South Asia.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482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Investor hook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b="1" dirty="0" smtClean="0"/>
              <a:t>“</a:t>
            </a:r>
            <a:r>
              <a:rPr lang="en-US" sz="3600" b="1" dirty="0"/>
              <a:t>We turn how patients speak into how doctors think — safely, locally, and at scale.”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3626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83</TotalTime>
  <Words>488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Times New Roman</vt:lpstr>
      <vt:lpstr>Tw Cen MT</vt:lpstr>
      <vt:lpstr>Droplet</vt:lpstr>
      <vt:lpstr>Lingua Bridge Health </vt:lpstr>
      <vt:lpstr>The Problem (Sharp &amp; Real) </vt:lpstr>
      <vt:lpstr> The Insight (Why We Win) </vt:lpstr>
      <vt:lpstr> The Solution </vt:lpstr>
      <vt:lpstr> Live Example (Very Demo-Friendly) </vt:lpstr>
      <vt:lpstr> Why Now? </vt:lpstr>
      <vt:lpstr> Market Opportunity </vt:lpstr>
      <vt:lpstr>Competitive Advantage (Defensible) Our Goal: Local language + medical context + explaination.</vt:lpstr>
      <vt:lpstr>Product roadmap</vt:lpstr>
      <vt:lpstr>Business model</vt:lpstr>
      <vt:lpstr> Implementation Strategy (Early Wins) </vt:lpstr>
      <vt:lpstr> Why We’re the Right Team (You) </vt:lpstr>
      <vt:lpstr>Ask/Request/Demand</vt:lpstr>
      <vt:lpstr>Investor hook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LinguaBridge Health </dc:title>
  <dc:creator>PMLS</dc:creator>
  <cp:lastModifiedBy>PMLS</cp:lastModifiedBy>
  <cp:revision>32</cp:revision>
  <dcterms:created xsi:type="dcterms:W3CDTF">2026-02-23T10:40:47Z</dcterms:created>
  <dcterms:modified xsi:type="dcterms:W3CDTF">2026-02-23T12:04:27Z</dcterms:modified>
</cp:coreProperties>
</file>